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754880"/>
          </a:xfrm>
          <a:prstGeom prst="round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ASSIGNMENT 2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Learning Strategy &amp; Regularization on MNIST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Eksplorasi Teknik Regularisasi (L1, L2, Dropout, Early Stopping) untuk Mengatasi Overfitting pada Feedforward ANN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850640"/>
            <a:ext cx="9966960" cy="138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r>
              <a:rPr sz="1200" b="1" dirty="0">
                <a:solidFill>
                  <a:srgbClr val="E2E8F0"/>
                </a:solidFill>
              </a:rPr>
              <a:t>•  Nama </a:t>
            </a:r>
            <a:r>
              <a:rPr sz="1200" b="1" dirty="0" err="1">
                <a:solidFill>
                  <a:srgbClr val="E2E8F0"/>
                </a:solidFill>
              </a:rPr>
              <a:t>Lengkap</a:t>
            </a:r>
            <a:r>
              <a:rPr sz="1200" b="1" dirty="0">
                <a:solidFill>
                  <a:srgbClr val="E2E8F0"/>
                </a:solidFill>
              </a:rPr>
              <a:t>                  </a:t>
            </a:r>
            <a:r>
              <a:rPr lang="en-US" sz="1200" b="1" dirty="0">
                <a:solidFill>
                  <a:srgbClr val="E2E8F0"/>
                </a:solidFill>
              </a:rPr>
              <a:t>		</a:t>
            </a:r>
            <a:r>
              <a:rPr sz="1200" b="1" dirty="0">
                <a:solidFill>
                  <a:srgbClr val="E2E8F0"/>
                </a:solidFill>
              </a:rPr>
              <a:t>: </a:t>
            </a:r>
            <a:r>
              <a:rPr sz="1200" b="1" dirty="0">
                <a:solidFill>
                  <a:srgbClr val="FFFFFF"/>
                </a:solidFill>
              </a:rPr>
              <a:t>Frans Alwan </a:t>
            </a:r>
            <a:r>
              <a:rPr sz="1200" b="1" dirty="0" err="1">
                <a:solidFill>
                  <a:srgbClr val="FFFFFF"/>
                </a:solidFill>
              </a:rPr>
              <a:t>Purba</a:t>
            </a:r>
            <a:endParaRPr sz="1200" b="1" dirty="0">
              <a:solidFill>
                <a:srgbClr val="FFFFFF"/>
              </a:solidFill>
            </a:endParaRPr>
          </a:p>
          <a:p>
            <a:r>
              <a:rPr sz="1200" b="1" dirty="0">
                <a:solidFill>
                  <a:srgbClr val="E2E8F0"/>
                </a:solidFill>
              </a:rPr>
              <a:t>•  </a:t>
            </a:r>
            <a:r>
              <a:rPr sz="1200" b="1" dirty="0" err="1">
                <a:solidFill>
                  <a:srgbClr val="E2E8F0"/>
                </a:solidFill>
              </a:rPr>
              <a:t>Nomor</a:t>
            </a:r>
            <a:r>
              <a:rPr sz="1200" b="1" dirty="0">
                <a:solidFill>
                  <a:srgbClr val="E2E8F0"/>
                </a:solidFill>
              </a:rPr>
              <a:t> </a:t>
            </a:r>
            <a:r>
              <a:rPr sz="1200" b="1" dirty="0" err="1">
                <a:solidFill>
                  <a:srgbClr val="E2E8F0"/>
                </a:solidFill>
              </a:rPr>
              <a:t>Induk</a:t>
            </a:r>
            <a:r>
              <a:rPr sz="1200" b="1" dirty="0">
                <a:solidFill>
                  <a:srgbClr val="E2E8F0"/>
                </a:solidFill>
              </a:rPr>
              <a:t> </a:t>
            </a:r>
            <a:r>
              <a:rPr sz="1200" b="1" dirty="0" err="1">
                <a:solidFill>
                  <a:srgbClr val="E2E8F0"/>
                </a:solidFill>
              </a:rPr>
              <a:t>Mahasiswa</a:t>
            </a:r>
            <a:r>
              <a:rPr sz="1200" b="1" dirty="0">
                <a:solidFill>
                  <a:srgbClr val="E2E8F0"/>
                </a:solidFill>
              </a:rPr>
              <a:t> (NIM)    </a:t>
            </a:r>
            <a:r>
              <a:rPr lang="en-US" sz="1200" b="1" dirty="0">
                <a:solidFill>
                  <a:srgbClr val="E2E8F0"/>
                </a:solidFill>
              </a:rPr>
              <a:t>	</a:t>
            </a:r>
            <a:r>
              <a:rPr sz="1200" b="1" dirty="0">
                <a:solidFill>
                  <a:srgbClr val="E2E8F0"/>
                </a:solidFill>
              </a:rPr>
              <a:t>: </a:t>
            </a:r>
            <a:r>
              <a:rPr sz="1200" b="1" dirty="0">
                <a:solidFill>
                  <a:srgbClr val="FFFFFF"/>
                </a:solidFill>
              </a:rPr>
              <a:t>25/563545/PPA/07116</a:t>
            </a:r>
          </a:p>
          <a:p>
            <a:r>
              <a:rPr sz="1200" b="1" dirty="0">
                <a:solidFill>
                  <a:srgbClr val="E2E8F0"/>
                </a:solidFill>
              </a:rPr>
              <a:t>•  Program </a:t>
            </a:r>
            <a:r>
              <a:rPr sz="1200" b="1" dirty="0" err="1">
                <a:solidFill>
                  <a:srgbClr val="E2E8F0"/>
                </a:solidFill>
              </a:rPr>
              <a:t>Studi</a:t>
            </a:r>
            <a:r>
              <a:rPr sz="1200" b="1" dirty="0">
                <a:solidFill>
                  <a:srgbClr val="E2E8F0"/>
                </a:solidFill>
              </a:rPr>
              <a:t>                  </a:t>
            </a:r>
            <a:r>
              <a:rPr lang="en-US" sz="1200" b="1" dirty="0">
                <a:solidFill>
                  <a:srgbClr val="E2E8F0"/>
                </a:solidFill>
              </a:rPr>
              <a:t>	 	</a:t>
            </a:r>
            <a:r>
              <a:rPr sz="1200" b="1" dirty="0">
                <a:solidFill>
                  <a:srgbClr val="E2E8F0"/>
                </a:solidFill>
              </a:rPr>
              <a:t>: </a:t>
            </a:r>
            <a:r>
              <a:rPr sz="1200" b="1" dirty="0">
                <a:solidFill>
                  <a:srgbClr val="FFFFFF"/>
                </a:solidFill>
              </a:rPr>
              <a:t>Magister </a:t>
            </a:r>
            <a:r>
              <a:rPr sz="1200" b="1" dirty="0" err="1">
                <a:solidFill>
                  <a:srgbClr val="FFFFFF"/>
                </a:solidFill>
              </a:rPr>
              <a:t>Kecerdasan</a:t>
            </a:r>
            <a:r>
              <a:rPr sz="1200" b="1" dirty="0">
                <a:solidFill>
                  <a:srgbClr val="FFFFFF"/>
                </a:solidFill>
              </a:rPr>
              <a:t> </a:t>
            </a:r>
            <a:r>
              <a:rPr sz="1200" b="1" dirty="0" err="1">
                <a:solidFill>
                  <a:srgbClr val="FFFFFF"/>
                </a:solidFill>
              </a:rPr>
              <a:t>Artifisial</a:t>
            </a:r>
            <a:r>
              <a:rPr sz="1200" b="1" dirty="0">
                <a:solidFill>
                  <a:srgbClr val="FFFFFF"/>
                </a:solidFill>
              </a:rPr>
              <a:t> (MKA) - FMIPA UGM</a:t>
            </a:r>
          </a:p>
          <a:p>
            <a:r>
              <a:rPr sz="1200" b="1" dirty="0">
                <a:solidFill>
                  <a:srgbClr val="E2E8F0"/>
                </a:solidFill>
              </a:rPr>
              <a:t>•  Mata </a:t>
            </a:r>
            <a:r>
              <a:rPr sz="1200" b="1" dirty="0" err="1">
                <a:solidFill>
                  <a:srgbClr val="E2E8F0"/>
                </a:solidFill>
              </a:rPr>
              <a:t>Kuliah</a:t>
            </a:r>
            <a:r>
              <a:rPr sz="1200" b="1" dirty="0">
                <a:solidFill>
                  <a:srgbClr val="E2E8F0"/>
                </a:solidFill>
              </a:rPr>
              <a:t>                   </a:t>
            </a:r>
            <a:r>
              <a:rPr lang="en-US" sz="1200" b="1" dirty="0">
                <a:solidFill>
                  <a:srgbClr val="E2E8F0"/>
                </a:solidFill>
              </a:rPr>
              <a:t>	 	</a:t>
            </a:r>
            <a:r>
              <a:rPr sz="1200" b="1" dirty="0">
                <a:solidFill>
                  <a:srgbClr val="E2E8F0"/>
                </a:solidFill>
              </a:rPr>
              <a:t>: </a:t>
            </a:r>
            <a:r>
              <a:rPr lang="en-US" sz="1200" dirty="0" err="1"/>
              <a:t>Pembelajaran</a:t>
            </a:r>
            <a:r>
              <a:rPr lang="en-US" sz="1200" dirty="0"/>
              <a:t> </a:t>
            </a:r>
            <a:r>
              <a:rPr lang="en-US" sz="1200" dirty="0" err="1"/>
              <a:t>Mesin</a:t>
            </a:r>
            <a:r>
              <a:rPr lang="en-US" sz="1200" dirty="0"/>
              <a:t> </a:t>
            </a:r>
            <a:r>
              <a:rPr lang="en-US" sz="1200" dirty="0" err="1"/>
              <a:t>Mendalam</a:t>
            </a:r>
            <a:r>
              <a:rPr lang="en-US" sz="1200" dirty="0"/>
              <a:t> </a:t>
            </a:r>
            <a:r>
              <a:rPr lang="en-US" sz="1200" dirty="0" err="1"/>
              <a:t>Lanjut</a:t>
            </a:r>
            <a:r>
              <a:rPr lang="en-US" sz="1200" dirty="0"/>
              <a:t> </a:t>
            </a:r>
            <a:r>
              <a:rPr sz="1200" b="1" dirty="0">
                <a:solidFill>
                  <a:srgbClr val="FFFFFF"/>
                </a:solidFill>
              </a:rPr>
              <a:t>(PMML)</a:t>
            </a:r>
          </a:p>
          <a:p>
            <a:r>
              <a:rPr sz="1200" b="1" dirty="0">
                <a:solidFill>
                  <a:srgbClr val="E2E8F0"/>
                </a:solidFill>
              </a:rPr>
              <a:t>•  </a:t>
            </a:r>
            <a:r>
              <a:rPr sz="1200" b="1" dirty="0" err="1">
                <a:solidFill>
                  <a:srgbClr val="E2E8F0"/>
                </a:solidFill>
              </a:rPr>
              <a:t>Dosen</a:t>
            </a:r>
            <a:r>
              <a:rPr sz="1200" b="1" dirty="0">
                <a:solidFill>
                  <a:srgbClr val="E2E8F0"/>
                </a:solidFill>
              </a:rPr>
              <a:t> </a:t>
            </a:r>
            <a:r>
              <a:rPr sz="1200" b="1" dirty="0" err="1">
                <a:solidFill>
                  <a:srgbClr val="E2E8F0"/>
                </a:solidFill>
              </a:rPr>
              <a:t>Pengampu</a:t>
            </a:r>
            <a:r>
              <a:rPr sz="1200" b="1" dirty="0">
                <a:solidFill>
                  <a:srgbClr val="E2E8F0"/>
                </a:solidFill>
              </a:rPr>
              <a:t>                 </a:t>
            </a:r>
            <a:r>
              <a:rPr lang="en-US" sz="1200" b="1" dirty="0">
                <a:solidFill>
                  <a:srgbClr val="E2E8F0"/>
                </a:solidFill>
              </a:rPr>
              <a:t>	</a:t>
            </a:r>
            <a:r>
              <a:rPr sz="1200" b="1" dirty="0">
                <a:solidFill>
                  <a:srgbClr val="E2E8F0"/>
                </a:solidFill>
              </a:rPr>
              <a:t>: </a:t>
            </a:r>
            <a:r>
              <a:rPr sz="1200" b="1" dirty="0">
                <a:solidFill>
                  <a:srgbClr val="FFFFFF"/>
                </a:solidFill>
              </a:rPr>
              <a:t>Dr. </a:t>
            </a:r>
            <a:r>
              <a:rPr sz="1200" b="1" dirty="0" err="1">
                <a:solidFill>
                  <a:srgbClr val="FFFFFF"/>
                </a:solidFill>
              </a:rPr>
              <a:t>Afiahayati</a:t>
            </a:r>
            <a:r>
              <a:rPr sz="1200" b="1" dirty="0">
                <a:solidFill>
                  <a:srgbClr val="FFFFFF"/>
                </a:solidFill>
              </a:rPr>
              <a:t>, </a:t>
            </a:r>
            <a:r>
              <a:rPr sz="1200" b="1" dirty="0" err="1">
                <a:solidFill>
                  <a:srgbClr val="FFFFFF"/>
                </a:solidFill>
              </a:rPr>
              <a:t>S.Kom</a:t>
            </a:r>
            <a:r>
              <a:rPr sz="1200" b="1" dirty="0">
                <a:solidFill>
                  <a:srgbClr val="FFFFFF"/>
                </a:solidFill>
              </a:rPr>
              <a:t>., M.Cs.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28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Repository &amp; Code Implementation URL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20116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dirty="0"/>
              <a:t>GITHUB REPOSITORY &amp; JUPYTER NOTEBOOK</a:t>
            </a:r>
          </a:p>
          <a:p>
            <a:pPr algn="ctr">
              <a:defRPr sz="1800" b="1">
                <a:solidFill>
                  <a:srgbClr val="0F172A"/>
                </a:solidFill>
              </a:defRPr>
            </a:pPr>
            <a:r>
              <a:rPr dirty="0"/>
              <a:t>https://github.com/fransalwan/mnist-regularization-experiments-pmml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172A"/>
                </a:solidFill>
              </a:defRPr>
            </a:pPr>
            <a:r>
              <a:rPr lang="en-US" dirty="0"/>
              <a:t>STRUKTUR DIREKTORI KODE</a:t>
            </a:r>
          </a:p>
          <a:p>
            <a:pPr>
              <a:lnSpc>
                <a:spcPct val="150000"/>
              </a:lnSpc>
              <a:defRPr sz="1000">
                <a:solidFill>
                  <a:srgbClr val="475569"/>
                </a:solidFill>
              </a:defRPr>
            </a:pPr>
            <a:r>
              <a:rPr lang="en-US" dirty="0"/>
              <a:t>• Assignment2_MNIST_Regularization_Frans_Alwan_Purba.ipynb (Interactive Notebook)</a:t>
            </a:r>
          </a:p>
          <a:p>
            <a:pPr>
              <a:lnSpc>
                <a:spcPct val="150000"/>
              </a:lnSpc>
              <a:defRPr sz="1000">
                <a:solidFill>
                  <a:srgbClr val="475569"/>
                </a:solidFill>
              </a:defRPr>
            </a:pPr>
            <a:r>
              <a:rPr lang="en-US" dirty="0"/>
              <a:t>• run_experiments.py (Pipeline </a:t>
            </a:r>
            <a:r>
              <a:rPr lang="en-US" dirty="0" err="1"/>
              <a:t>otomasi</a:t>
            </a:r>
            <a:r>
              <a:rPr lang="en-US" dirty="0"/>
              <a:t> </a:t>
            </a:r>
            <a:r>
              <a:rPr lang="en-US" dirty="0" err="1"/>
              <a:t>pelatihan</a:t>
            </a:r>
            <a:r>
              <a:rPr lang="en-US" dirty="0"/>
              <a:t> &amp; </a:t>
            </a:r>
            <a:r>
              <a:rPr lang="en-US" dirty="0" err="1"/>
              <a:t>evaluasi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  <a:defRPr sz="1000">
                <a:solidFill>
                  <a:srgbClr val="475569"/>
                </a:solidFill>
              </a:defRPr>
            </a:pPr>
            <a:r>
              <a:rPr lang="en-US" dirty="0"/>
              <a:t>• models/ (Saved models: baseline, L1, L2, Dropout, ES, L1+Dropout)</a:t>
            </a:r>
          </a:p>
          <a:p>
            <a:pPr>
              <a:lnSpc>
                <a:spcPct val="150000"/>
              </a:lnSpc>
              <a:defRPr sz="1000">
                <a:solidFill>
                  <a:srgbClr val="475569"/>
                </a:solidFill>
              </a:defRPr>
            </a:pPr>
            <a:r>
              <a:rPr lang="en-US" dirty="0"/>
              <a:t>• plots/ (</a:t>
            </a:r>
            <a:r>
              <a:rPr lang="en-US" dirty="0" err="1"/>
              <a:t>Grafik</a:t>
            </a:r>
            <a:r>
              <a:rPr lang="en-US" dirty="0"/>
              <a:t> loss &amp;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</a:t>
            </a:r>
            <a:r>
              <a:rPr lang="en-US" dirty="0" err="1"/>
              <a:t>resolusi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  <a:defRPr sz="1000">
                <a:solidFill>
                  <a:srgbClr val="475569"/>
                </a:solidFill>
              </a:defRPr>
            </a:pPr>
            <a:r>
              <a:rPr lang="en-US" dirty="0"/>
              <a:t>• slides/ (Slide </a:t>
            </a:r>
            <a:r>
              <a:rPr lang="en-US" dirty="0" err="1"/>
              <a:t>presentasi</a:t>
            </a:r>
            <a:r>
              <a:rPr lang="en-US" dirty="0"/>
              <a:t> PPTX &amp; PDF)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402" y="3840480"/>
            <a:ext cx="524225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lnSpc>
                <a:spcPct val="150000"/>
              </a:lnSpc>
              <a:defRPr sz="1100" b="1">
                <a:solidFill>
                  <a:srgbClr val="0F172A"/>
                </a:solidFill>
              </a:defRPr>
            </a:pPr>
            <a:r>
              <a:rPr dirty="0"/>
              <a:t>LINGKUNGAN PENGUJIAN &amp; TEKNOLOGI</a:t>
            </a: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0F172A"/>
                </a:solidFill>
              </a:rPr>
              <a:t>• Platform: </a:t>
            </a:r>
            <a:r>
              <a:rPr sz="1000" dirty="0">
                <a:solidFill>
                  <a:srgbClr val="475569"/>
                </a:solidFill>
              </a:rPr>
              <a:t>Python 3.11 / </a:t>
            </a:r>
            <a:r>
              <a:rPr sz="1000" dirty="0" err="1">
                <a:solidFill>
                  <a:srgbClr val="475569"/>
                </a:solidFill>
              </a:rPr>
              <a:t>JupyterLab</a:t>
            </a:r>
            <a:endParaRPr sz="1000" dirty="0">
              <a:solidFill>
                <a:srgbClr val="475569"/>
              </a:solidFill>
            </a:endParaRP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0F172A"/>
                </a:solidFill>
              </a:rPr>
              <a:t>• Deep Learning Framework: </a:t>
            </a:r>
            <a:r>
              <a:rPr sz="1000" dirty="0">
                <a:solidFill>
                  <a:srgbClr val="475569"/>
                </a:solidFill>
              </a:rPr>
              <a:t>TensorFlow 2.21.0 &amp; </a:t>
            </a:r>
            <a:r>
              <a:rPr sz="1000" dirty="0" err="1">
                <a:solidFill>
                  <a:srgbClr val="475569"/>
                </a:solidFill>
              </a:rPr>
              <a:t>Keras</a:t>
            </a:r>
            <a:r>
              <a:rPr sz="1000" dirty="0">
                <a:solidFill>
                  <a:srgbClr val="475569"/>
                </a:solidFill>
              </a:rPr>
              <a:t> 3.15.1</a:t>
            </a: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0F172A"/>
                </a:solidFill>
              </a:rPr>
              <a:t>• Dataset: </a:t>
            </a:r>
            <a:r>
              <a:rPr sz="1000" dirty="0">
                <a:solidFill>
                  <a:srgbClr val="475569"/>
                </a:solidFill>
              </a:rPr>
              <a:t>MNIST 70,000 images (60,000 train, 10,000 test)</a:t>
            </a: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0F172A"/>
                </a:solidFill>
              </a:rPr>
              <a:t>• Optimizer &amp; Loss: </a:t>
            </a:r>
            <a:r>
              <a:rPr sz="1000" dirty="0">
                <a:solidFill>
                  <a:srgbClr val="475569"/>
                </a:solidFill>
              </a:rPr>
              <a:t>Adam Optimizer, Categorical </a:t>
            </a:r>
            <a:r>
              <a:rPr sz="1000" dirty="0" err="1">
                <a:solidFill>
                  <a:srgbClr val="475569"/>
                </a:solidFill>
              </a:rPr>
              <a:t>Crossentropy</a:t>
            </a:r>
            <a:endParaRPr sz="1000" dirty="0">
              <a:solidFill>
                <a:srgbClr val="475569"/>
              </a:solidFill>
            </a:endParaRP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0F172A"/>
                </a:solidFill>
              </a:rPr>
              <a:t>• Hardware Execution: </a:t>
            </a:r>
            <a:r>
              <a:rPr sz="1000" dirty="0">
                <a:solidFill>
                  <a:srgbClr val="475569"/>
                </a:solidFill>
              </a:rPr>
              <a:t>CPU Intel Core (</a:t>
            </a:r>
            <a:r>
              <a:rPr sz="1000" dirty="0" err="1">
                <a:solidFill>
                  <a:srgbClr val="475569"/>
                </a:solidFill>
              </a:rPr>
              <a:t>oneDNN</a:t>
            </a:r>
            <a:r>
              <a:rPr sz="1000" dirty="0">
                <a:solidFill>
                  <a:srgbClr val="475569"/>
                </a:solidFill>
              </a:rPr>
              <a:t> Optimized execution)</a:t>
            </a:r>
          </a:p>
          <a:p>
            <a:pPr>
              <a:lnSpc>
                <a:spcPct val="150000"/>
              </a:lnSpc>
            </a:pPr>
            <a:r>
              <a:rPr sz="1000" b="1" dirty="0">
                <a:solidFill>
                  <a:srgbClr val="0F172A"/>
                </a:solidFill>
              </a:rPr>
              <a:t>• Reproducibility: </a:t>
            </a:r>
            <a:r>
              <a:rPr sz="1000" dirty="0">
                <a:solidFill>
                  <a:srgbClr val="475569"/>
                </a:solidFill>
              </a:rPr>
              <a:t>Random seed = 42 (NumPy &amp; TensorFlow)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91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Scenario 2(a) : L1 Regularization (Lasso Penalty)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KONFIGURASI PARAMETER: L1 RATE = 0.0001 (1E-4)</a:t>
            </a:r>
          </a:p>
          <a:p>
            <a:r>
              <a:rPr sz="1400" b="1">
                <a:solidFill>
                  <a:srgbClr val="0F172A"/>
                </a:solidFill>
              </a:rPr>
              <a:t>Test Accuracy: 97.28%  |  Test Loss: 0.1728
</a:t>
            </a:r>
            <a:r>
              <a:rPr sz="1000">
                <a:solidFill>
                  <a:srgbClr val="475569"/>
                </a:solidFill>
              </a:rPr>
              <a:t>Baseline: 97.13% (Loss: 0.0919)  ➔  Delta: +0.15%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MODEL.SUMMARY() &amp; ARSITEKTUR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Input Shape: (None, 28, 28, 1) ➔ Flatten (784 neurons)</a:t>
            </a:r>
            <a:br/>
            <a:r>
              <a:t>• Hidden Layer: Dense(64, activation='relu', kernel_regularizer=L1(1e-4))</a:t>
            </a:r>
            <a:br/>
            <a:r>
              <a:t>• Output Layer: Dense(10, activation='softmax')</a:t>
            </a:r>
            <a:br/>
            <a:r>
              <a:t>• Total Trainable Parameters: 50,890 params</a:t>
            </a:r>
            <a:br/>
            <a:r>
              <a:t>• Formula Loss: J(W) = CrossEntropy + λ * Σ|w_ij|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ANALISIS &amp; EFEK REGULARISASI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L1 Regularization menambahkan penalti nilai absolut bobot (|w|) pada fungsi loss.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Mendorong bobot fitur yang kurang relevan menuju tepat nol (sparsity / feature selection).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Meningkatkan test accuracy dari 97.13% (baseline) menjadi 97.28% (+0.15%).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Nilai total loss tampak lebih tinggi karena memperhitungkan suku penalti L1.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39496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enario_2a_l1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12064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0292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Observasi Kurva Loss: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Perhatikan konvergensi antara garis merah (Training Loss) dan garis biru (Validation Loss). Regularisasi menjaga gap generalisasi tetap terkendali sehingga model tidak mengalami overfitting ekstrim.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8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Scenario 2(b) : L2 Regularization (Ridge / Weight Decay)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KONFIGURASI PARAMETER: L2 RATE = 0.001 (1E-3)</a:t>
            </a:r>
          </a:p>
          <a:p>
            <a:r>
              <a:rPr sz="1400" b="1">
                <a:solidFill>
                  <a:srgbClr val="0F172A"/>
                </a:solidFill>
              </a:rPr>
              <a:t>Test Accuracy: 97.06%  |  Test Loss: 0.1568
</a:t>
            </a:r>
            <a:r>
              <a:rPr sz="1000">
                <a:solidFill>
                  <a:srgbClr val="475569"/>
                </a:solidFill>
              </a:rPr>
              <a:t>Baseline: 97.13% (Loss: 0.0919)  ➔  Delta: -0.07%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MODEL.SUMMARY() &amp; ARSITEKTUR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Input Shape: (None, 28, 28, 1) ➔ Flatten (784 neurons)</a:t>
            </a:r>
            <a:br/>
            <a:r>
              <a:t>• Hidden Layer: Dense(64, activation='relu', kernel_regularizer=L2(1e-3))</a:t>
            </a:r>
            <a:br/>
            <a:r>
              <a:t>• Output Layer: Dense(10, activation='softmax')</a:t>
            </a:r>
            <a:br/>
            <a:r>
              <a:t>• Total Trainable Parameters: 50,890 params</a:t>
            </a:r>
            <a:br/>
            <a:r>
              <a:t>• Formula Loss: J(W) = CrossEntropy + λ * Σ(w_ij)^2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ANALISIS &amp; EFEK REGULARISASI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L2 Regularization menambahkan penalti kuadrat nilai bobot (w^2) pada objective function.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Berfungsi sebagai weight decay: mendistribusikan bobot secara halus dan meredam bobot ekstrem.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Berbeda dengan L1, bobot mendekati nol tetapi tidak tepat nol, mencegah dominasi piksel tunggal.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Mencapai test accuracy 97.06% dengan stabilitas gradien yang sangat konsisten sepanjang epoch.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39496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enario_2b_l2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12064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0292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Observasi Kurva Loss: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Perhatikan konvergensi antara garis merah (Training Loss) dan garis biru (Validation Loss). Regularisasi menjaga gap generalisasi tetap terkendali sehingga model tidak mengalami overfitting ekstrim.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19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Scenario 2(c) : Dropout Regularization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KONFIGURASI PARAMETER: DROPOUT RATE = 0.25 (P = 25%)</a:t>
            </a:r>
          </a:p>
          <a:p>
            <a:r>
              <a:rPr sz="1400" b="1">
                <a:solidFill>
                  <a:srgbClr val="0F172A"/>
                </a:solidFill>
              </a:rPr>
              <a:t>Test Accuracy: 97.34%  |  Test Loss: 0.0918
</a:t>
            </a:r>
            <a:r>
              <a:rPr sz="1000">
                <a:solidFill>
                  <a:srgbClr val="475569"/>
                </a:solidFill>
              </a:rPr>
              <a:t>Baseline: 97.13% (Loss: 0.0919)  ➔  Delta: +0.21%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MODEL.SUMMARY() &amp; ARSITEKTUR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Input Shape: (None, 28, 28, 1) ➔ Flatten (784 neurons)</a:t>
            </a:r>
            <a:br/>
            <a:r>
              <a:t>• Hidden Layer: Dense(64, activation='relu') (50,240 params)</a:t>
            </a:r>
            <a:br/>
            <a:r>
              <a:t>• Regularization Layer: Dropout(rate=0.25) (0 params)</a:t>
            </a:r>
            <a:br/>
            <a:r>
              <a:t>• Output Layer: Dense(10, activation='softmax') (650 params)</a:t>
            </a:r>
            <a:br/>
            <a:r>
              <a:t>• Total Trainable Parameters: 50,890 params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ANALISIS &amp; EFEK REGULARISASI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Secara acak menonaktifkan 25% neuron tersembunyi pada setiap mini-batch iterasi.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Mencegah 'co-adaptation': memaksa setiap neuron mempelajari representasi fitur mandiri.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Menghasilkan performa TERBAIK: Akurasi tertinggi (97.34%) dan Test Loss terendah (0.0918).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Kurva validasi loss berada sangat dekat dengan training loss, menandakan generalisasi unggul.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39496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enario_2c_dropout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12064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0292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Observasi Kurva Loss: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Perhatikan konvergensi antara garis merah (Training Loss) dan garis biru (Validation Loss). Regularisasi menjaga gap generalisasi tetap terkendali sehingga model tidak mengalami overfitting ekstrim.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160"/>
            <a:ext cx="12191695" cy="558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Scenario 2(d) : Early Stopping Callback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KONFIGURASI PARAMETER: MONITOR: VAL_LOSS, PATIENCE = 3, MAX EPOCHS = 20</a:t>
            </a:r>
          </a:p>
          <a:p>
            <a:r>
              <a:rPr sz="1400" b="1">
                <a:solidFill>
                  <a:srgbClr val="0F172A"/>
                </a:solidFill>
              </a:rPr>
              <a:t>Test Accuracy: 97.07%  |  Test Loss: 0.0965
</a:t>
            </a:r>
            <a:r>
              <a:rPr sz="1000">
                <a:solidFill>
                  <a:srgbClr val="475569"/>
                </a:solidFill>
              </a:rPr>
              <a:t>Baseline: 97.13% (Loss: 0.0919)  ➔  Delta: -0.06%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MODEL.SUMMARY() &amp; ARSITEKTUR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Arsitektur Dasar: Flatten ➔ Dense(64, 'relu') ➔ Dense(10, 'softmax')</a:t>
            </a:r>
            <a:br/>
            <a:r>
              <a:t>• Callback: EarlyStopping(monitor='val_loss', patience=3, restore_best_weights=True)</a:t>
            </a:r>
            <a:br/>
            <a:r>
              <a:t>• Status Pelatihan: Terhenti otomatis pada Epoch ke-15 (dari kuota 20 epoch)</a:t>
            </a:r>
            <a:br/>
            <a:r>
              <a:t>• Bobot Terbaik Direstorasi: Epoch 12 (Val Loss minimum = 0.0965)</a:t>
            </a:r>
            <a:br/>
            <a:r>
              <a:t>• Menghemat ~25% komputasi dan mencegah overtraining.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ANALISIS &amp; EFEK REGULARISASI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Early stopping memantau kurva generalisasi (val_loss) secara dinamis.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Ketika val_loss berhenti menurun selama 3 epoch berturut-turut, pelatihan dihentikan.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Parameter `restore_best_weights=True` otomatis mengembalikan bobot pada kondisi optimal.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Metode regularisasi tanpa mengubah fungsi loss maupun kapasitas arsitektur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39496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enario_2d_earlystopp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12064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0292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Observasi Kurva Loss: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Perhatikan konvergensi antara garis merah (Training Loss) dan garis biru (Validation Loss). Regularisasi menjaga gap generalisasi tetap terkendali sehingga model tidak mengalami overfitting ekstrim.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28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Scenario 2(e) : Combined L1 Regularization &amp; Dropout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KONFIGURASI PARAMETER: L1 RATE = 0.0001 + DROPOUT RATE = 0.25</a:t>
            </a:r>
          </a:p>
          <a:p>
            <a:r>
              <a:rPr sz="1400" b="1" dirty="0">
                <a:solidFill>
                  <a:srgbClr val="0F172A"/>
                </a:solidFill>
              </a:rPr>
              <a:t>Test Accuracy: 97.17%  |  Test Loss: 0.1881
</a:t>
            </a:r>
            <a:r>
              <a:rPr sz="1000" dirty="0">
                <a:solidFill>
                  <a:srgbClr val="475569"/>
                </a:solidFill>
              </a:rPr>
              <a:t>Baseline: 97.13% (Loss: 0.0919)  ➔  Delta: +0.04%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MODEL.SUMMARY() &amp; ARSITEKTUR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Input Layer: Flatten (784 neurons)</a:t>
            </a:r>
            <a:br/>
            <a:r>
              <a:t>• Dense Hidden: Dense(64, 'relu', kernel_regularizer=L1(1e-4))</a:t>
            </a:r>
            <a:br/>
            <a:r>
              <a:t>• Dropout Layer: Dropout(0.25)</a:t>
            </a:r>
            <a:br/>
            <a:r>
              <a:t>• Output Layer: Dense(10, 'softmax')</a:t>
            </a:r>
            <a:br/>
            <a:r>
              <a:t>• Total Trainable Parameters: 50,890 params</a:t>
            </a:r>
            <a:br/>
            <a:r>
              <a:t>• Proteksi Ganda: Sparsity bobot + Pembongkaran ko-adaptasi.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ANALISIS &amp; EFEK REGULARISASI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Menggabungkan dua paradigma pencegahan overfitting secara simultan.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L1 menyederhanakan bobot sinapsis, sementara Dropout memperkuat ketahanan neuron tersembunyi.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Mencapai test accuracy 97.17% (lebih tinggi dari baseline 97.13%).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Sangat ideal diterapkan pada dataset dengan noise tinggi atau fitur berdimensi besar.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39496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enario_2e_l1_dropout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12064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0292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Observasi Kurva Loss: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Perhatikan konvergensi antara garis merah (Training Loss) dan garis biru (Validation Loss). Regularisasi menjaga gap generalisasi tetap terkendali sehingga model tidak mengalami overfitting ekstrim.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28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Conclusion &amp; Comprehensive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Skenario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Metode Regularisasi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Hyperparameter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Loss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Akurasi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Dampak Utama &amp; Karakteristik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Baseline (Slide 20-23)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Tanpa Regularisasi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0.0919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97.13%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Rentan overfitting pada epoch lanjut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Scenario 2(a)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L1 Regularization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λ = 0.0001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0.1728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97.28%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Sparsity bobot (feature selection otomatis)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Scenario 2(b)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L2 Regularization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λ =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0.1568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97.06%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Weight decay, menghaluskan distribusi bobot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Scenario 2(c)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Dropout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 = 0.25 (25%)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0.0918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97.34%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Akurasi tertinggi, memecah ko-adaptasi neuron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Scenario 2(d)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Early 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patience =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0.0965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97.07%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Berhenti di epoch 15, cegah overtraining dinamis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Scenario 2(e)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L1 + Dropout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L1=1e-4, p=0.25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0.1881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97.17%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dirty="0" err="1"/>
                        <a:t>Proteksi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ganda</a:t>
                      </a:r>
                      <a:r>
                        <a:rPr dirty="0"/>
                        <a:t>: </a:t>
                      </a:r>
                      <a:r>
                        <a:rPr dirty="0" err="1"/>
                        <a:t>bobot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jarang</a:t>
                      </a:r>
                      <a:r>
                        <a:rPr dirty="0"/>
                        <a:t> &amp; </a:t>
                      </a:r>
                      <a:r>
                        <a:rPr dirty="0" err="1"/>
                        <a:t>representasi</a:t>
                      </a:r>
                      <a:r>
                        <a:rPr dirty="0"/>
                        <a:t> robust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297680"/>
            <a:ext cx="10728655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KESIMPULAN AKHIR &amp; STRATEGI PEMBELAJARAN (LEARNING STRATEGY)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1. Efektivitas Dropout: Dropout rate 0.25 memberikan performa terbaik pada klasifikasi MNIST dengan test accuracy 97.34% dan test loss terendah (0.0918) karena bekerja layaknya ensemble learning dari subnetworks tersembunyi.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2. Regularisasi Bobot (L1 vs L2): L1 menghasilkan bobot yang sparse (sebagian besar bobot nol), sangat efektif menyeleksi fitur piksel relevan (+0.15% akurasi dari baseline). L2 mereduksi magnitude bobot secara merata dan mencegah gradien meledak.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3. Efisiensi Early Stopping: Early stopping menghentikan iterasi pada epoch ke-15 dan merestorasi bobot epoch 12, menghemat komputasi tanpa degradasi performa yang berarti.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4. Rekomendasi Praktis: Untuk klasifikasi citra sederhana (MNIST ANN), kombinasi Dropout dan Early Stopping adalah strategi paling optimal karena tidak membebani fungsi loss dengan suku penalti buatan namun secara agresif mencegah overfitting.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1686</Words>
  <Application>Microsoft Office PowerPoint</Application>
  <PresentationFormat>Widescreen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Frans Alwan</cp:lastModifiedBy>
  <cp:revision>6</cp:revision>
  <dcterms:created xsi:type="dcterms:W3CDTF">2013-01-27T09:14:16Z</dcterms:created>
  <dcterms:modified xsi:type="dcterms:W3CDTF">2026-10-01T17:48:19Z</dcterms:modified>
  <cp:category/>
</cp:coreProperties>
</file>